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project in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1097280"/>
            <a:ext cx="1097280" cy="109728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92640" y="1097280"/>
            <a:ext cx="1097280" cy="1097280"/>
          </a:xfrm>
          <a:prstGeom prst="roundRect">
            <a:avLst>
              <a:gd name="adj" fmla="val 8000"/>
            </a:avLst>
          </a:prstGeom>
          <a:solidFill>
            <a:srgbClr val="7FD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2377440"/>
            <a:ext cx="1097280" cy="109728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92640" y="2377440"/>
            <a:ext cx="1097280" cy="1097280"/>
          </a:xfrm>
          <a:prstGeom prst="roundRect">
            <a:avLst>
              <a:gd name="adj" fmla="val 8000"/>
            </a:avLst>
          </a:prstGeom>
          <a:solidFill>
            <a:srgbClr val="7FD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27080" y="2377440"/>
            <a:ext cx="1097280" cy="109728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7FD6C2"/>
                </a:solidFill>
                <a:latin typeface="Calibri"/>
              </a:rPr>
              <a:t>DEVOPS · PROJECT ACTIVITY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749807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Task Manager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EF4F5"/>
                </a:solidFill>
                <a:latin typeface="Calibri"/>
              </a:rPr>
              <a:t>A containerised REST service for team task management — built with Git Flow, TDD, Docker and GitHub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28C28"/>
                </a:solidFill>
                <a:latin typeface="Calibri"/>
              </a:rPr>
              <a:t>Team TaskOps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035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EEF4F5"/>
                </a:solidFill>
                <a:latin typeface="Calibri"/>
              </a:rPr>
              <a:t>Rakhat · Danas · Nurlan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D6C2"/>
                </a:solidFill>
                <a:latin typeface="Courier New"/>
              </a:rPr>
              <a:t>github.com/Kaifovichhh/devops-task-manager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PROJECT GOAL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One place for team tasks, one command to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933"/>
                </a:solidFill>
                <a:latin typeface="Calibri"/>
              </a:rPr>
              <a:t>Problem: tasks live in chats and spreadsheets — they get lost and progress is invisible.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933"/>
                </a:solidFill>
                <a:latin typeface="Calibri"/>
              </a:rPr>
              <a:t>Solution: a simple HTTP API to create, prioritise, update, filter and close tasks, plus live statistics.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933"/>
                </a:solidFill>
                <a:latin typeface="Calibri"/>
              </a:rPr>
              <a:t>Value: starts anywhere with Docker in seconds and can be connected to a bot, web or mobile UI.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933"/>
                </a:solidFill>
                <a:latin typeface="Calibri"/>
              </a:rPr>
              <a:t>DevOps objective: practise the full cycle — Git, TDD, Docker, 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2468880" cy="192024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011679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0B8A8F"/>
                </a:solidFill>
                <a:latin typeface="Cambr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0175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B6B78"/>
                </a:solidFill>
                <a:latin typeface="Calibri"/>
              </a:rPr>
              <a:t>user stories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737360"/>
            <a:ext cx="2468880" cy="192024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0" y="2011679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0B8A8F"/>
                </a:solidFill>
                <a:latin typeface="Cambria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30175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B6B78"/>
                </a:solidFill>
                <a:latin typeface="Calibr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931920"/>
            <a:ext cx="2468880" cy="192024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0B8A8F"/>
                </a:solidFill>
                <a:latin typeface="Cambria"/>
              </a:rPr>
              <a:t>97%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2120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B6B78"/>
                </a:solidFill>
                <a:latin typeface="Calibri"/>
              </a:rPr>
              <a:t>code coverage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931920"/>
            <a:ext cx="2468880" cy="192024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420624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 i="0">
                <a:solidFill>
                  <a:srgbClr val="0B8A8F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521207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B6B78"/>
                </a:solidFill>
                <a:latin typeface="Calibri"/>
              </a:rPr>
              <a:t>command to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Nine user stories define Sprint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9659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Create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3774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with title, description, priority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6916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26279" y="201168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79" y="19659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List &amp;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79" y="23774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by status todo / in_progress / 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916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19" y="201168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19" y="19659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Update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23774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change status, title, priority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918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361188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566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Delete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977639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keep the list clean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2918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26279" y="361188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3566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Statistics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79" y="3977639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tasks per status for the lead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2918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75319" y="3611880"/>
            <a:ext cx="731520" cy="7315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566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Health 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3977639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/health for Docker and CI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5212079"/>
            <a:ext cx="731520" cy="7315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166359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Persistent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5778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survives container restart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79" y="48920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79" y="5212079"/>
            <a:ext cx="731520" cy="7315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79" y="5166359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One-command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79" y="55778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docker compose up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489204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75319" y="5212079"/>
            <a:ext cx="731520" cy="7315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US-9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19" y="5166359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Automated CI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19" y="55778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lint, test, build on every push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B6B78"/>
                </a:solidFill>
                <a:latin typeface="Calibri"/>
              </a:rPr>
              <a:t>Teal = application features · Orange = DevOps / infrastructure features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TEAM MEMBERS &amp;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Three roles, three branches, clear ownership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20440" cy="44805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56231" y="2011680"/>
            <a:ext cx="914400" cy="91440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06324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F1E2E"/>
                </a:solidFill>
                <a:latin typeface="Cambria"/>
              </a:rPr>
              <a:t>Rakhat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74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B8A8F"/>
                </a:solidFill>
                <a:latin typeface="Calibri"/>
              </a:rPr>
              <a:t>Team Lead ·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8862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6B78"/>
                </a:solidFill>
                <a:latin typeface="Courier New"/>
              </a:rPr>
              <a:t>feature/tasks-api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REST endpoints &amp; validation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App factory, error handling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Code review, merges to 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737360"/>
            <a:ext cx="3520440" cy="44805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05271" y="2011680"/>
            <a:ext cx="914400" cy="914400"/>
          </a:xfrm>
          <a:prstGeom prst="ellipse">
            <a:avLst/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06324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F1E2E"/>
                </a:solidFill>
                <a:latin typeface="Cambria"/>
              </a:rPr>
              <a:t>Danas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474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B8A8F"/>
                </a:solidFill>
                <a:latin typeface="Calibri"/>
              </a:rPr>
              <a:t>QA ·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8862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6B78"/>
                </a:solidFill>
                <a:latin typeface="Courier New"/>
              </a:rPr>
              <a:t>feature/storage-tests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48056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SQLite storage layer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Test plan: 15 test cases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pytest + coverage ≥ 80 %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737360"/>
            <a:ext cx="3520440" cy="44805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54311" y="2011680"/>
            <a:ext cx="914400" cy="91440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F1E2E"/>
                </a:solidFill>
                <a:latin typeface="Cambria"/>
              </a:rPr>
              <a:t>Nurlan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474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B8A8F"/>
                </a:solidFill>
                <a:latin typeface="Calibri"/>
              </a:rPr>
              <a:t>DevOps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8862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B6B78"/>
                </a:solidFill>
                <a:latin typeface="Courier New"/>
              </a:rPr>
              <a:t>feature/docker-ci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48056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Multi-stage Dockerfile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docker-compose + volume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GitHub Actions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APPLICATION &amp;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A small REST API on Flask + SQLite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81051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933"/>
                </a:solidFill>
                <a:latin typeface="Courier New"/>
              </a:rPr>
              <a:t>/health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8288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service &amp; DB status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5915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323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933"/>
                </a:solidFill>
                <a:latin typeface="Courier New"/>
              </a:rPr>
              <a:t>/tasks?status=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5059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list / filter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80944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5409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933"/>
                </a:solidFill>
                <a:latin typeface="Courier New"/>
              </a:rPr>
              <a:t>/tasks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07238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create task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02736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75887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933"/>
                </a:solidFill>
                <a:latin typeface="Courier New"/>
              </a:rPr>
              <a:t>/tasks/&lt;id&gt;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941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get one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24528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976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933"/>
                </a:solidFill>
                <a:latin typeface="Courier New"/>
              </a:rPr>
              <a:t>/tasks/&lt;id&gt;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3159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update / complete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91947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933"/>
                </a:solidFill>
                <a:latin typeface="Courier New"/>
              </a:rPr>
              <a:t>/tasks/&lt;id&gt;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delete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468112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4126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933"/>
                </a:solidFill>
                <a:latin typeface="Courier New"/>
              </a:rPr>
              <a:t>/stats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555955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count per status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1737360"/>
            <a:ext cx="3931920" cy="86868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1847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1945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D6C2"/>
                </a:solidFill>
                <a:latin typeface="Calibri"/>
              </a:rPr>
              <a:t>curl / UI / bot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9509760" y="2624328"/>
            <a:ext cx="274320" cy="237744"/>
          </a:xfrm>
          <a:prstGeom prst="downArrow">
            <a:avLst/>
          </a:prstGeom>
          <a:solidFill>
            <a:srgbClr val="0B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80960" y="2880360"/>
            <a:ext cx="3931920" cy="86868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0" y="2990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E2E"/>
                </a:solidFill>
                <a:latin typeface="Calibri"/>
              </a:rPr>
              <a:t>Gunicorn + Flask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3375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routes.py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9509760" y="3767328"/>
            <a:ext cx="274320" cy="237744"/>
          </a:xfrm>
          <a:prstGeom prst="downArrow">
            <a:avLst/>
          </a:prstGeom>
          <a:solidFill>
            <a:srgbClr val="0B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0" y="4023360"/>
            <a:ext cx="3931920" cy="86868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4133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4805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D6C2"/>
                </a:solidFill>
                <a:latin typeface="Calibri"/>
              </a:rPr>
              <a:t>storage.py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9509760" y="4910328"/>
            <a:ext cx="274320" cy="237744"/>
          </a:xfrm>
          <a:prstGeom prst="downArrow">
            <a:avLst/>
          </a:prstGeom>
          <a:solidFill>
            <a:srgbClr val="0B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80960" y="5166360"/>
            <a:ext cx="3931920" cy="86868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5276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E2E"/>
                </a:solidFill>
                <a:latin typeface="Calibri"/>
              </a:rPr>
              <a:t>SQLite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6235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volume /data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B6B78"/>
                </a:solidFill>
                <a:latin typeface="Calibri"/>
              </a:rPr>
              <a:t>Why these features: the minimum that makes the service useful AND exercises every DevOps step (data, tests, container, CI).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GITHUB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Git Flow: features → develop → protected 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4708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F1E2E"/>
                </a:solidFill>
                <a:latin typeface="Courier New"/>
              </a:rPr>
              <a:t>main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03120" y="2011680"/>
            <a:ext cx="6126480" cy="0"/>
          </a:xfrm>
          <a:prstGeom prst="line">
            <a:avLst/>
          </a:prstGeom>
          <a:ln w="38100">
            <a:solidFill>
              <a:srgbClr val="0F1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94436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8A8F"/>
                </a:solidFill>
                <a:latin typeface="Courier New"/>
              </a:rPr>
              <a:t>develop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03120" y="3108960"/>
            <a:ext cx="6126480" cy="0"/>
          </a:xfrm>
          <a:prstGeom prst="line">
            <a:avLst/>
          </a:prstGeom>
          <a:ln w="38100">
            <a:solidFill>
              <a:srgbClr val="0B8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04164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8C28"/>
                </a:solidFill>
                <a:latin typeface="Courier New"/>
              </a:rPr>
              <a:t>feature/*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4206240"/>
            <a:ext cx="6126480" cy="0"/>
          </a:xfrm>
          <a:prstGeom prst="line">
            <a:avLst/>
          </a:prstGeom>
          <a:ln w="38100">
            <a:solidFill>
              <a:srgbClr val="F28C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148840" y="1874520"/>
            <a:ext cx="274320" cy="274320"/>
          </a:xfrm>
          <a:prstGeom prst="ellipse">
            <a:avLst/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19" y="1874520"/>
            <a:ext cx="274320" cy="274320"/>
          </a:xfrm>
          <a:prstGeom prst="ellipse">
            <a:avLst/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88920" y="2971800"/>
            <a:ext cx="274320" cy="2743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069079" y="2971800"/>
            <a:ext cx="274320" cy="2743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9240" y="2971800"/>
            <a:ext cx="274320" cy="2743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29400" y="2971800"/>
            <a:ext cx="274320" cy="2743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0440" y="4069079"/>
            <a:ext cx="274320" cy="2743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00600" y="4069079"/>
            <a:ext cx="274320" cy="2743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80759" y="4069079"/>
            <a:ext cx="274320" cy="2743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5087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1E2E"/>
                </a:solidFill>
                <a:latin typeface="Calibri"/>
              </a:rPr>
              <a:t>v1.0.0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B78"/>
                </a:solidFill>
                <a:latin typeface="Calibri"/>
              </a:rPr>
              <a:t>Danas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B78"/>
                </a:solidFill>
                <a:latin typeface="Calibri"/>
              </a:rPr>
              <a:t>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434840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B78"/>
                </a:solidFill>
                <a:latin typeface="Calibri"/>
              </a:rPr>
              <a:t>Rakhat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B78"/>
                </a:solidFill>
                <a:latin typeface="Calibri"/>
              </a:rPr>
              <a:t>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434840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B78"/>
                </a:solidFill>
                <a:latin typeface="Calibri"/>
              </a:rPr>
              <a:t>Nurlan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6B78"/>
                </a:solidFill>
                <a:latin typeface="Calibri"/>
              </a:rPr>
              <a:t>docker-ci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1691640"/>
            <a:ext cx="28803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1874519"/>
            <a:ext cx="24688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Rules on main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no direct push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PR + 1 review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CI must be green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E2933"/>
                </a:solidFill>
                <a:latin typeface="Calibri"/>
              </a:rPr>
              <a:t>• releases are tagged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11109960" cy="128016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12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D6C2"/>
                </a:solidFill>
                <a:latin typeface="Courier New"/>
              </a:rPr>
              <a:t>git checkout develop &amp;&amp; git checkout -b feature/docker-ci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git commit -m "ci: multi-stage Dockerfile" &amp;&amp; git push -u origin feature/docker-ci   → Pull 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28C28"/>
                </a:solidFill>
                <a:latin typeface="Courier New"/>
              </a:rPr>
              <a:t>github.com/Kaifovichhh/devops-task-manager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PROOF OF CONCEPT · TDD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Test first: every feature has an automated check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108960"/>
                <a:gridCol w="2560320"/>
              </a:tblGrid>
              <a:tr h="4876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>
                    <a:solidFill>
                      <a:srgbClr val="0F1E2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TC-02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POST /tasks valid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201, status todo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TC-03/04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missing / blank title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TC-07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filter ?status=done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only done tasks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PATCH status=done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200, updated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TC-11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DELETE twice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204, then 404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reopen DB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data persists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TC-D2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docker ps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healthy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TC-D5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CI smoke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933"/>
                          </a:solidFill>
                          <a:latin typeface="Calibri"/>
                        </a:rPr>
                        <a:t>all jobs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55279" y="1737360"/>
            <a:ext cx="3703320" cy="12801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79" y="1874519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8A8F"/>
                </a:solidFill>
                <a:latin typeface="Cambria"/>
              </a:rPr>
              <a:t>17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tests passed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246120"/>
            <a:ext cx="3703320" cy="12801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3383279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28C28"/>
                </a:solidFill>
                <a:latin typeface="Cambria"/>
              </a:rPr>
              <a:t>97 %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40690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coverage (gate ≥ 80 %)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4754879"/>
            <a:ext cx="3703320" cy="12801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489204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5778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B78"/>
                </a:solidFill>
                <a:latin typeface="Calibri"/>
              </a:rPr>
              <a:t>flake8 warnings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DOCKER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Multi-stage image: tests gate the build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74720" cy="3017520"/>
          </a:xfrm>
          <a:prstGeom prst="roundRect">
            <a:avLst>
              <a:gd name="adj" fmla="val 8000"/>
            </a:avLst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Stage 1 ·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317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D6C2"/>
                </a:solidFill>
                <a:latin typeface="Courier New"/>
              </a:rPr>
              <a:t>python:3.12-slim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install dev deps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flake8 + pytest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build fails if a test fails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737360"/>
            <a:ext cx="3474720" cy="3017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920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Stage 2 ·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23317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D6C2"/>
                </a:solidFill>
                <a:latin typeface="Courier New"/>
              </a:rPr>
              <a:t>python:3.12-slim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834640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Flask + Gunicorn only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non-root appuser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HEALTHCHECK /health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3063240"/>
            <a:ext cx="320040" cy="365760"/>
          </a:xfrm>
          <a:prstGeom prst="rightArrow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80" y="1737360"/>
            <a:ext cx="324612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1920240"/>
            <a:ext cx="2834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docker-compose.yml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• service api :5000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• volume task-data → /data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• restart: unless-stopped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109960" cy="137160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D6C2"/>
                </a:solidFill>
                <a:latin typeface="Courier New"/>
              </a:rPr>
              <a:t>$ docker compose up --build -d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D6C2"/>
                </a:solidFill>
                <a:latin typeface="Courier New"/>
              </a:rPr>
              <a:t>$ docker ps            →  task-manager-api   Up (healthy)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D6C2"/>
                </a:solidFill>
                <a:latin typeface="Courier New"/>
              </a:rPr>
              <a:t>$ curl localhost:5000/health  →  {"status": "ok", "database": "ok"}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8A8F"/>
                </a:solidFill>
                <a:latin typeface="Calibri"/>
              </a:rPr>
              <a:t>AUTOMATION STRATEGY · GITHUB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F1E2E"/>
                </a:solidFill>
                <a:latin typeface="Cambria"/>
              </a:rPr>
              <a:t>Every push runs the same automated pipeline</a:t>
            </a:r>
          </a:p>
        </p:txBody>
      </p:sp>
      <p:sp>
        <p:nvSpPr>
          <p:cNvPr id="4" name="Oval 3"/>
          <p:cNvSpPr/>
          <p:nvPr/>
        </p:nvSpPr>
        <p:spPr>
          <a:xfrm>
            <a:off x="1051560" y="1828800"/>
            <a:ext cx="731520" cy="7315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74519" y="2194560"/>
            <a:ext cx="1005841" cy="0"/>
          </a:xfrm>
          <a:prstGeom prst="line">
            <a:avLst/>
          </a:prstGeom>
          <a:ln w="25400">
            <a:solidFill>
              <a:srgbClr val="5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743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Push / 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feature/*, develop, main</a:t>
            </a:r>
          </a:p>
        </p:txBody>
      </p:sp>
      <p:sp>
        <p:nvSpPr>
          <p:cNvPr id="8" name="Oval 7"/>
          <p:cNvSpPr/>
          <p:nvPr/>
        </p:nvSpPr>
        <p:spPr>
          <a:xfrm>
            <a:off x="2971800" y="182880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94760" y="2194560"/>
            <a:ext cx="1005840" cy="0"/>
          </a:xfrm>
          <a:prstGeom prst="line">
            <a:avLst/>
          </a:prstGeom>
          <a:ln w="25400">
            <a:solidFill>
              <a:srgbClr val="5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68880" y="2743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Lint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154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flake8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82880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15000" y="2194560"/>
            <a:ext cx="1005840" cy="0"/>
          </a:xfrm>
          <a:prstGeom prst="line">
            <a:avLst/>
          </a:prstGeom>
          <a:ln w="25400">
            <a:solidFill>
              <a:srgbClr val="5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89120" y="2743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154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pytest + coverage ≥ 80 %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182880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35240" y="2194560"/>
            <a:ext cx="1005840" cy="0"/>
          </a:xfrm>
          <a:prstGeom prst="line">
            <a:avLst/>
          </a:prstGeom>
          <a:ln w="25400">
            <a:solidFill>
              <a:srgbClr val="5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0" y="2743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154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docker build (tests inside)</a:t>
            </a:r>
          </a:p>
        </p:txBody>
      </p:sp>
      <p:sp>
        <p:nvSpPr>
          <p:cNvPr id="20" name="Oval 19"/>
          <p:cNvSpPr/>
          <p:nvPr/>
        </p:nvSpPr>
        <p:spPr>
          <a:xfrm>
            <a:off x="8732520" y="1828800"/>
            <a:ext cx="731520" cy="731520"/>
          </a:xfrm>
          <a:prstGeom prst="ellipse">
            <a:avLst/>
          </a:prstGeom>
          <a:solidFill>
            <a:srgbClr val="0B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55480" y="2194560"/>
            <a:ext cx="1005840" cy="0"/>
          </a:xfrm>
          <a:prstGeom prst="line">
            <a:avLst/>
          </a:prstGeom>
          <a:ln w="25400">
            <a:solidFill>
              <a:srgbClr val="5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0" y="2743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Smoke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154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run container, curl API</a:t>
            </a:r>
          </a:p>
        </p:txBody>
      </p:sp>
      <p:sp>
        <p:nvSpPr>
          <p:cNvPr id="24" name="Oval 23"/>
          <p:cNvSpPr/>
          <p:nvPr/>
        </p:nvSpPr>
        <p:spPr>
          <a:xfrm>
            <a:off x="10652760" y="1828800"/>
            <a:ext cx="731520" cy="73152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27432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1E2E"/>
                </a:solidFill>
                <a:latin typeface="Calibri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315468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B78"/>
                </a:solidFill>
                <a:latin typeface="Calibri"/>
              </a:rPr>
              <a:t>only if all green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624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38912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Everything as code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Dockerfile, compose and CI YAML live in Git, reviewed like any other code.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20624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38912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Quality gate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2933"/>
                </a:solidFill>
                <a:latin typeface="Calibri"/>
              </a:rPr>
              <a:t>Red pipeline blocks the merge — broken code never reaches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7FD6C2"/>
                </a:solidFill>
                <a:latin typeface="Calibri"/>
              </a:rPr>
              <a:t>BACKLOG &amp;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What we learned and what comes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8000"/>
            </a:avLst>
          </a:prstGeom>
          <a:solidFill>
            <a:srgbClr val="18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28C28"/>
                </a:solidFill>
                <a:latin typeface="Cambria"/>
              </a:rPr>
              <a:t>Future enhancements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JWT auth and task assignees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PostgreSQL service in compose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Push image to GHCR + auto-deploy (CD)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Prometheus + Grafana monitoring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Web UI, Kubernetes manifests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37360"/>
            <a:ext cx="5394960" cy="4480560"/>
          </a:xfrm>
          <a:prstGeom prst="roundRect">
            <a:avLst>
              <a:gd name="adj" fmla="val 8000"/>
            </a:avLst>
          </a:prstGeom>
          <a:solidFill>
            <a:srgbClr val="18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7FD6C2"/>
                </a:solidFill>
                <a:latin typeface="Cambria"/>
              </a:rPr>
              <a:t>Issues →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46888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Tests missing in build → fixed .dockerignore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Data lost on restart → named volume /data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Non-root can't write DB → chown /data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Parallel edits → file ownership + PRs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Learned: Git Flow, TDD, multi-stage Docker, 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D6C2"/>
                </a:solidFill>
                <a:latin typeface="Calibri"/>
              </a:rPr>
              <a:t>Thank you! Questions?   ·   github.com/Kaifovichhh/devops-task-manager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